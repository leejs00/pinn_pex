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D47A1"/>
                </a:solidFill>
              </a:defRPr>
            </a:pPr>
            <a:r>
              <a:t>Practical Cross-Design Cap Prediction</a:t>
            </a:r>
          </a:p>
          <a:p>
            <a:pPr algn="ctr">
              <a:defRPr sz="2600" i="1">
                <a:solidFill>
                  <a:srgbClr val="3C3C3C"/>
                </a:solidFill>
              </a:defRPr>
            </a:pPr>
            <a:r>
              <a:t>120× Faster than PINN at 4.98 % MAPE on tv80s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Top-K aggressor features + Tweedie loss + 5-seed ensemble</a:t>
            </a:r>
          </a:p>
          <a:p/>
          <a:p>
            <a:pPr algn="ctr">
              <a:defRPr sz="1400" i="1">
                <a:solidFill>
                  <a:srgbClr val="787878"/>
                </a:solidFill>
              </a:defRPr>
            </a:pPr>
            <a:r>
              <a:t>PINN-PEX project · pex_v6 deployment demo ·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1. Problem: ML-based parasitic extraction (PEX)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Predict per-net capacitance from routed layout — fast enough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VLSI design flow needs accurate net-level cap (gnd / cpl) for IR-drop, timing, crosstalk analysis</a:t>
            </a:r>
          </a:p>
          <a:p>
            <a:pPr>
              <a:lnSpc>
                <a:spcPct val="120000"/>
              </a:lnSpc>
              <a:defRPr sz="1300"/>
            </a:pPr>
            <a:r>
              <a:t>  – Golden oracle: Synopsys StarRC — minutes per chip, license-bound</a:t>
            </a:r>
          </a:p>
          <a:p>
            <a:pPr>
              <a:lnSpc>
                <a:spcPct val="120000"/>
              </a:lnSpc>
              <a:defRPr sz="1300"/>
            </a:pPr>
            <a:r>
              <a:t>  – Pattern-matching tools (Innovus, OpenRCX): seconds per chip but 22-72 % MAPE per cap-decile</a:t>
            </a:r>
          </a:p>
          <a:p>
            <a:pPr>
              <a:lnSpc>
                <a:spcPct val="120000"/>
              </a:lnSpc>
              <a:defRPr sz="1300"/>
            </a:pPr>
            <a:r>
              <a:t>  – ML approach goal: &lt;10 % MAPE in &lt;1 s, license-free, reproducible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Prior ML-PEX work (ParaGraph, GNNCap, our v12 PINN):</a:t>
            </a:r>
          </a:p>
          <a:p>
            <a:pPr>
              <a:lnSpc>
                <a:spcPct val="120000"/>
              </a:lnSpc>
              <a:defRPr sz="1300"/>
            </a:pPr>
            <a:r>
              <a:t>  – v12 PINN (5-seed): tv80s tot 5.55 %, gnd 22.59 %, cpl 17.53 % at 20.4 s standalone</a:t>
            </a:r>
          </a:p>
          <a:p>
            <a:pPr>
              <a:lnSpc>
                <a:spcPct val="120000"/>
              </a:lnSpc>
              <a:defRPr sz="1300"/>
            </a:pPr>
            <a:r>
              <a:t>  – Per-channel MAPE 17–22 % is too high for downstream IR-drop sensitivity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Question: can we beat v12 PINN on accuracy AND speed simultaneously?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2. Baseline: v12 PINN (44K params, hybrid mesh)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Cuboid-set encoder + neural flux router — what we'll compare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Architecture: per-net cuboid set → CuboidEncoder (DeepSet) → NeuralFluxRouter → 3 heads (gnd, cpl, screening)</a:t>
            </a:r>
          </a:p>
          <a:p>
            <a:pPr>
              <a:lnSpc>
                <a:spcPct val="120000"/>
              </a:lnSpc>
              <a:defRPr sz="1400"/>
            </a:pPr>
            <a:r>
              <a:t>• Training: Phase 1 SSL pretrain → Phase 2 active-learning fine-tune against StarRC golden</a:t>
            </a:r>
          </a:p>
          <a:p>
            <a:pPr>
              <a:lnSpc>
                <a:spcPct val="120000"/>
              </a:lnSpc>
              <a:defRPr sz="1400"/>
            </a:pPr>
            <a:r>
              <a:t>• Joint Pareto v12 5-seed (locked frontier as of 2026-05-04):</a:t>
            </a:r>
          </a:p>
          <a:p>
            <a:pPr>
              <a:lnSpc>
                <a:spcPct val="120000"/>
              </a:lnSpc>
              <a:defRPr sz="1300"/>
            </a:pPr>
            <a:r>
              <a:t>  – tv80s tot_med 5.55 %, gnd 22.59 %, cpl 17.53 %</a:t>
            </a:r>
          </a:p>
          <a:p>
            <a:pPr>
              <a:lnSpc>
                <a:spcPct val="120000"/>
              </a:lnSpc>
              <a:defRPr sz="1300"/>
            </a:pPr>
            <a:r>
              <a:t>  – Per-net wall-clock: 20.4 s standalone on tv80s 3,169 nets (~6 ms/net)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Limitations identified from v12 residuals:</a:t>
            </a:r>
          </a:p>
          <a:p>
            <a:pPr>
              <a:lnSpc>
                <a:spcPct val="120000"/>
              </a:lnSpc>
              <a:defRPr sz="1300"/>
            </a:pPr>
            <a:r>
              <a:t>  – Per-channel gap: gnd 22.6 % is 4× larger than B1 XGBoost's gnd-channel error</a:t>
            </a:r>
          </a:p>
          <a:p>
            <a:pPr>
              <a:lnSpc>
                <a:spcPct val="120000"/>
              </a:lnSpc>
              <a:defRPr sz="1300"/>
            </a:pPr>
            <a:r>
              <a:t>  – DeepSet aggregation symmetrizes cuboid features — loses per-aggressor identity</a:t>
            </a:r>
          </a:p>
          <a:p>
            <a:pPr>
              <a:lnSpc>
                <a:spcPct val="120000"/>
              </a:lnSpc>
              <a:defRPr sz="1300"/>
            </a:pPr>
            <a:r>
              <a:t>  – Cuboid encoder operates on TARGET cuboids only (no aggressor features)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3. Diagnosis (H1, H2): within-bucket R² is 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Overall R² 0.99 hides the real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Overall R² across all nets: 0.9954 — looks excellent…</a:t>
            </a:r>
          </a:p>
          <a:p>
            <a:pPr>
              <a:lnSpc>
                <a:spcPct val="120000"/>
              </a:lnSpc>
              <a:defRPr sz="1400"/>
            </a:pPr>
            <a:r>
              <a:t>• But stratify by c_total cap-decile: within-bucket R² is poor in mid range</a:t>
            </a:r>
          </a:p>
          <a:p>
            <a:pPr>
              <a:lnSpc>
                <a:spcPct val="120000"/>
              </a:lnSpc>
              <a:defRPr sz="1400"/>
            </a:pPr>
            <a:r>
              <a:t>• 3-way oracle blend (v12+B1+PA-XGB) gain: only +0.01–0.03 R² in mid bucket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Big XGBoost (depth=12, n_est=3000) ALONE: nova MAPE regress (5.70 → 6.30)</a:t>
            </a:r>
          </a:p>
          <a:p>
            <a:pPr>
              <a:lnSpc>
                <a:spcPct val="120000"/>
              </a:lnSpc>
              <a:defRPr sz="1400"/>
            </a:pPr>
            <a:r>
              <a:t>• Conclusion: this is an INFORMATION ceiling on DEF/LEF/Liberty inputs, not capacity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Hypothesis: missing per-aggressor identity (current 41 features have only aggregates)</a:t>
            </a:r>
          </a:p>
        </p:txBody>
      </p:sp>
      <p:pic>
        <p:nvPicPr>
          <p:cNvPr id="5" name="Picture 4" descr="fig1_per_bucke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11247120" cy="55443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fig1: per-bucket cpl R² across cap-deciles. Top-K features (orange/green) lift mid-bucket discrimination ~+0.1 R²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4. Hypothesis: Top-K aggressor features (H3)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Per-aggressor identity → per-bucket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Current 41 features (NetFeatureVector) capture only AGGREGATE aggressor stats:</a:t>
            </a:r>
          </a:p>
          <a:p>
            <a:pPr>
              <a:lnSpc>
                <a:spcPct val="120000"/>
              </a:lnSpc>
              <a:defRPr sz="1300"/>
            </a:pPr>
            <a:r>
              <a:t>  – e.g., n_aggressor_nets, broadside_overlap_total, broadside_overlap_p95</a:t>
            </a:r>
          </a:p>
          <a:p>
            <a:pPr>
              <a:lnSpc>
                <a:spcPct val="120000"/>
              </a:lnSpc>
              <a:defRPr sz="1300"/>
            </a:pPr>
            <a:r>
              <a:t>  – Top-1 aggressor's individual overlap, distance, layer-diff are LOST in aggregation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New features (26 per net, extracted from raw tile pickles in 3.5 h on 8 workers):</a:t>
            </a:r>
          </a:p>
          <a:p>
            <a:pPr>
              <a:lnSpc>
                <a:spcPct val="120000"/>
              </a:lnSpc>
              <a:defRPr sz="1300"/>
            </a:pPr>
            <a:r>
              <a:t>  – Per top-K aggressor (k=1,2,3): score, overlap_um2, min_xy_dist_um, mean_dz_um, agg_size_um2, layer_diff_flag</a:t>
            </a:r>
          </a:p>
          <a:p>
            <a:pPr>
              <a:lnSpc>
                <a:spcPct val="120000"/>
              </a:lnSpc>
              <a:defRPr sz="1300"/>
            </a:pPr>
            <a:r>
              <a:t>  – Aux: agg_count_above/below_target_z, agg_n_distinct, topk_score_concentration</a:t>
            </a:r>
          </a:p>
          <a:p>
            <a:pPr>
              <a:lnSpc>
                <a:spcPct val="120000"/>
              </a:lnSpc>
              <a:defRPr sz="1300"/>
            </a:pPr>
            <a:r>
              <a:t>  – 3D density: agg_count_within_{1,3,5}μm radius from target centroid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Physics-motivated score: Σᵢⱼ ε · xy_overlap / max(|Δz|, ε_z) over (target, agg) cuboid pairs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Pipeline: pex_v3 cuboid store + aggressor groups → vectorized numpy pair tensors → score + sort → top-K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5a. Methodology: feature pipeline (DEF→67-D vector)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Two precomputed CSVs joined per (design, net) — 221k × 67 features</a:t>
            </a:r>
          </a:p>
        </p:txBody>
      </p:sp>
      <p:pic>
        <p:nvPicPr>
          <p:cNvPr id="4" name="Picture 3" descr="fig6_fea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887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fig6: pipeline architecture. Left: raw inputs. Middle: parsers + extractors. Right: joined feature table fed to XGBoost.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5b. Feature catalog (67 dims total)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41 base + 26 H3 top-K aggressor — distinct semantic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00"/>
            </a:pPr>
            <a:r>
              <a:t>• Base 41 (NetFeatureVector — frozen schema):</a:t>
            </a:r>
          </a:p>
          <a:p>
            <a:pPr>
              <a:lnSpc>
                <a:spcPct val="105000"/>
              </a:lnSpc>
              <a:defRPr sz="1000"/>
            </a:pPr>
            <a:r>
              <a:t>  – Geometric (6): total_wire_length_um, total_metal_area_um2, n_cuboids, bbox_xy_um2, bbox_z_um, aspect_ratio</a:t>
            </a:r>
          </a:p>
          <a:p>
            <a:pPr>
              <a:lnSpc>
                <a:spcPct val="105000"/>
              </a:lnSpc>
              <a:defRPr sz="1000"/>
            </a:pPr>
            <a:r>
              <a:t>  – Layer histogram (9): layer_hist_M1 ... M9_plus</a:t>
            </a:r>
          </a:p>
          <a:p>
            <a:pPr>
              <a:lnSpc>
                <a:spcPct val="105000"/>
              </a:lnSpc>
              <a:defRPr sz="1000"/>
            </a:pPr>
            <a:r>
              <a:t>  – Coupling aggregate (11): n_aggressor_nets, broadside/lateral_overlap_total/p95, spacing_min/p25/p50/p95, n_edges_lt_1um/1_to_3um/3_to_4um</a:t>
            </a:r>
          </a:p>
          <a:p>
            <a:pPr>
              <a:lnSpc>
                <a:spcPct val="105000"/>
              </a:lnSpc>
              <a:defRPr sz="1000"/>
            </a:pPr>
            <a:r>
              <a:t>  – VSS shielding (5): vss_n_cuboids, vss_total_metal_area_um2, vss_shield_M1_M3 / M4_M5 / M6_plus</a:t>
            </a:r>
          </a:p>
          <a:p>
            <a:pPr>
              <a:lnSpc>
                <a:spcPct val="105000"/>
              </a:lnSpc>
              <a:defRPr sz="1000"/>
            </a:pPr>
            <a:r>
              <a:t>  – Layer stack (5): eps_min/max/mean, n_layers_present, fanout</a:t>
            </a:r>
          </a:p>
          <a:p>
            <a:pPr>
              <a:lnSpc>
                <a:spcPct val="105000"/>
              </a:lnSpc>
              <a:defRPr sz="1000"/>
            </a:pPr>
            <a:r>
              <a:t>  – Density per layer group (3): density_M1_M3 / M4_M5 / M6_plus</a:t>
            </a:r>
          </a:p>
          <a:p>
            <a:pPr>
              <a:lnSpc>
                <a:spcPct val="105000"/>
              </a:lnSpc>
              <a:defRPr sz="1000"/>
            </a:pPr>
            <a:r>
              <a:t>  – Compact-model intermediates (2): compact_gnd_estimate_fF, compact_cpl_estimate_total_fF</a:t>
            </a:r>
          </a:p>
          <a:p>
            <a:pPr>
              <a:lnSpc>
                <a:spcPct val="105000"/>
              </a:lnSpc>
              <a:defRPr sz="1100"/>
            </a:pPr>
            <a:r>
              <a:t>• </a:t>
            </a:r>
          </a:p>
          <a:p>
            <a:pPr>
              <a:lnSpc>
                <a:spcPct val="105000"/>
              </a:lnSpc>
              <a:defRPr sz="1100"/>
            </a:pPr>
            <a:r>
              <a:t>• New 26 (H3 top-K aggressor — paper contribution):</a:t>
            </a:r>
          </a:p>
          <a:p>
            <a:pPr>
              <a:lnSpc>
                <a:spcPct val="105000"/>
              </a:lnSpc>
              <a:defRPr sz="1000"/>
            </a:pPr>
            <a:r>
              <a:t>  – Top-K (k=1,2,3) per-aggressor (18): score, overlap_um2, min_xy_dist_um, mean_dz_um, agg_size_um2, layer_diff_flag</a:t>
            </a:r>
          </a:p>
          <a:p>
            <a:pPr>
              <a:lnSpc>
                <a:spcPct val="105000"/>
              </a:lnSpc>
              <a:defRPr sz="1000"/>
            </a:pPr>
            <a:r>
              <a:t>  – Aux (4): agg_count_above/below_target_z, agg_n_distinct, topk_score_concentration</a:t>
            </a:r>
          </a:p>
          <a:p>
            <a:pPr>
              <a:lnSpc>
                <a:spcPct val="105000"/>
              </a:lnSpc>
              <a:defRPr sz="1000"/>
            </a:pPr>
            <a:r>
              <a:t>  – 3D density (3): agg_count_within_{1,3,5}μm xyz radius from target centroid</a:t>
            </a:r>
          </a:p>
          <a:p>
            <a:pPr>
              <a:lnSpc>
                <a:spcPct val="105000"/>
              </a:lnSpc>
              <a:defRPr sz="1000"/>
            </a:pPr>
            <a:r>
              <a:t>  – Sanity (1): target_n_cuboids_check</a:t>
            </a:r>
          </a:p>
          <a:p>
            <a:pPr>
              <a:lnSpc>
                <a:spcPct val="105000"/>
              </a:lnSpc>
              <a:defRPr sz="1100"/>
            </a:pPr>
            <a:r>
              <a:t>• </a:t>
            </a:r>
          </a:p>
          <a:p>
            <a:pPr>
              <a:lnSpc>
                <a:spcPct val="105000"/>
              </a:lnSpc>
              <a:defRPr sz="1100"/>
            </a:pPr>
            <a:r>
              <a:t>• Score formula (physics-motivated parallel-plate proxy):</a:t>
            </a:r>
          </a:p>
          <a:p>
            <a:pPr>
              <a:lnSpc>
                <a:spcPct val="105000"/>
              </a:lnSpc>
              <a:defRPr sz="1000"/>
            </a:pPr>
            <a:r>
              <a:t>  –     score(agg) = Σ over (target, agg) cuboid pairs of [ε_avg · xy_overlap / max(|Δz|, 0.05 μm)]</a:t>
            </a:r>
          </a:p>
          <a:p>
            <a:pPr>
              <a:lnSpc>
                <a:spcPct val="105000"/>
              </a:lnSpc>
              <a:defRPr sz="1000"/>
            </a:pPr>
            <a:r>
              <a:t>  – Aggressors ranked by score; top-3 carry the discrimination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5c. Model architecture: 5-seed Tweedie XGBoost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Two heads (gnd / cpl) × 5 seeds = 10 weight files (~12 MB each)</a:t>
            </a:r>
          </a:p>
        </p:txBody>
      </p:sp>
      <p:pic>
        <p:nvPicPr>
          <p:cNvPr id="4" name="Picture 3" descr="fig7_xgboos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887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fig7: (left) per-seed boosting structure (depth 8, 500 trees max with early-stop). (right) Tweedie objective derivation + comparison vs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5d. Training methodology + 5-seed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Manifest H1 split (no design-net leakage), early-stopping on valid log-MSE</a:t>
            </a:r>
          </a:p>
        </p:txBody>
      </p:sp>
      <p:pic>
        <p:nvPicPr>
          <p:cNvPr id="4" name="Picture 3" descr="fig8_train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887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fig8: (top) 51/5.7/43 train/valid/test split. (bottom) 5-seed protocol + hyperparameters + Tweedie objective.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5e. Inference: ensemble averaging at PREDICTION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predict-then-aggregate cancels per-seed variance — 0.108 pp gain over 5-seed-mean-of-MAPE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/>
            </a:pPr>
            <a:r>
              <a:t>• Two ways to combine 5 trained seeds:</a:t>
            </a:r>
          </a:p>
          <a:p>
            <a:pPr>
              <a:lnSpc>
                <a:spcPct val="110000"/>
              </a:lnSpc>
              <a:defRPr sz="1100"/>
            </a:pPr>
            <a:r>
              <a:t>• </a:t>
            </a:r>
          </a:p>
          <a:p>
            <a:pPr>
              <a:lnSpc>
                <a:spcPct val="110000"/>
              </a:lnSpc>
              <a:defRPr sz="1100"/>
            </a:pPr>
            <a:r>
              <a:t>• (A) Average MAPE across seeds (= traditional 5-seed lock):</a:t>
            </a:r>
          </a:p>
          <a:p>
            <a:pPr>
              <a:lnSpc>
                <a:spcPct val="110000"/>
              </a:lnSpc>
              <a:defRPr sz="1000"/>
            </a:pPr>
            <a:r>
              <a:t>  – seed_42_MAPE = 5.05, seed_0 = 5.13, seed_1 = 5.09, seed_2 = 5.10, seed_3 = 5.07</a:t>
            </a:r>
          </a:p>
          <a:p>
            <a:pPr>
              <a:lnSpc>
                <a:spcPct val="110000"/>
              </a:lnSpc>
              <a:defRPr sz="1000"/>
            </a:pPr>
            <a:r>
              <a:t>  – → mean = 5.087 ± 0.049  ← S4 Tweedie 5-seed lock value</a:t>
            </a:r>
          </a:p>
          <a:p>
            <a:pPr>
              <a:lnSpc>
                <a:spcPct val="110000"/>
              </a:lnSpc>
              <a:defRPr sz="1100"/>
            </a:pPr>
            <a:r>
              <a:t>• </a:t>
            </a:r>
          </a:p>
          <a:p>
            <a:pPr>
              <a:lnSpc>
                <a:spcPct val="110000"/>
              </a:lnSpc>
              <a:defRPr sz="1100"/>
            </a:pPr>
            <a:r>
              <a:t>• (B) Average PREDICTIONS across seeds, then compute MAPE (= pex_v6 ensemble):</a:t>
            </a:r>
          </a:p>
          <a:p>
            <a:pPr>
              <a:lnSpc>
                <a:spcPct val="110000"/>
              </a:lnSpc>
              <a:defRPr sz="1000"/>
            </a:pPr>
            <a:r>
              <a:t>  – pred_gnd_ens(net) = mean over 5 seeds of pred_gnd_seed(net)</a:t>
            </a:r>
          </a:p>
          <a:p>
            <a:pPr>
              <a:lnSpc>
                <a:spcPct val="110000"/>
              </a:lnSpc>
              <a:defRPr sz="1000"/>
            </a:pPr>
            <a:r>
              <a:t>  – pred_cpl_ens(net) = mean over 5 seeds of pred_cpl_seed(net)</a:t>
            </a:r>
          </a:p>
          <a:p>
            <a:pPr>
              <a:lnSpc>
                <a:spcPct val="110000"/>
              </a:lnSpc>
              <a:defRPr sz="1000"/>
            </a:pPr>
            <a:r>
              <a:t>  – MAPE_ens(test) = MAPE(pred_ens, gold)</a:t>
            </a:r>
          </a:p>
          <a:p>
            <a:pPr>
              <a:lnSpc>
                <a:spcPct val="110000"/>
              </a:lnSpc>
              <a:defRPr sz="1000"/>
            </a:pPr>
            <a:r>
              <a:t>  – → tv80s tot_med = 4.979, nova = 5.279</a:t>
            </a:r>
          </a:p>
          <a:p>
            <a:pPr>
              <a:lnSpc>
                <a:spcPct val="110000"/>
              </a:lnSpc>
              <a:defRPr sz="1100"/>
            </a:pPr>
            <a:r>
              <a:t>• </a:t>
            </a:r>
          </a:p>
          <a:p>
            <a:pPr>
              <a:lnSpc>
                <a:spcPct val="110000"/>
              </a:lnSpc>
              <a:defRPr sz="1100"/>
            </a:pPr>
            <a:r>
              <a:t>• Why (B) is better:</a:t>
            </a:r>
          </a:p>
          <a:p>
            <a:pPr>
              <a:lnSpc>
                <a:spcPct val="110000"/>
              </a:lnSpc>
              <a:defRPr sz="1000"/>
            </a:pPr>
            <a:r>
              <a:t>  – Per-seed model has independent stochastic variance from subsample 0.8 + colsample 0.8</a:t>
            </a:r>
          </a:p>
          <a:p>
            <a:pPr>
              <a:lnSpc>
                <a:spcPct val="110000"/>
              </a:lnSpc>
              <a:defRPr sz="1000"/>
            </a:pPr>
            <a:r>
              <a:t>  – Averaging predictions FIRST cancels noise BEFORE it hits |p−y|/y nonlinearity</a:t>
            </a:r>
          </a:p>
          <a:p>
            <a:pPr>
              <a:lnSpc>
                <a:spcPct val="110000"/>
              </a:lnSpc>
              <a:defRPr sz="1000"/>
            </a:pPr>
            <a:r>
              <a:t>  – Effectively a Bayesian model average — same cost as a single model at inference</a:t>
            </a:r>
          </a:p>
          <a:p>
            <a:pPr>
              <a:lnSpc>
                <a:spcPct val="110000"/>
              </a:lnSpc>
              <a:defRPr sz="1100"/>
            </a:pPr>
            <a:r>
              <a:t>• </a:t>
            </a:r>
          </a:p>
          <a:p>
            <a:pPr>
              <a:lnSpc>
                <a:spcPct val="110000"/>
              </a:lnSpc>
              <a:defRPr sz="1100"/>
            </a:pPr>
            <a:r>
              <a:t>• Inference computation per net:</a:t>
            </a:r>
          </a:p>
          <a:p>
            <a:pPr>
              <a:lnSpc>
                <a:spcPct val="110000"/>
              </a:lnSpc>
              <a:defRPr sz="1000"/>
            </a:pPr>
            <a:r>
              <a:t>  –   pred_gnd = (1/5) · Σ_seed XGB_gnd_seed.predict(features)  ← 5 tree traversals</a:t>
            </a:r>
          </a:p>
          <a:p>
            <a:pPr>
              <a:lnSpc>
                <a:spcPct val="110000"/>
              </a:lnSpc>
              <a:defRPr sz="1000"/>
            </a:pPr>
            <a:r>
              <a:t>  –   pred_cpl = (1/5) · Σ_seed XGB_cpl_seed.predict(features)</a:t>
            </a:r>
          </a:p>
          <a:p>
            <a:pPr>
              <a:lnSpc>
                <a:spcPct val="110000"/>
              </a:lnSpc>
              <a:defRPr sz="1000"/>
            </a:pPr>
            <a:r>
              <a:t>  –   Total: 10 XGB_predict calls per net, ~5 μs/net on CPU (vectorized over batch)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6. Validation H4-H5: features × capacity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Both must scale together — capacity alone overfits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tv80s tot_med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tv80s gnd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tv80s cpl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nova tot_med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B1 (5-seed) —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5.30 ±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19.89 %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14.16 %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5.83 ±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0.05 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Small + new features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5.28 ± 0.07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18.90 %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13.57 %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5.62 ± 0.02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0.05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Big + 41 features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5.31 ±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18.95 %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13.99 %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6.24 ± 0.07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0.4 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Big + new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5.17 ± 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17.84 %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13.23 %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5.92 ± 0.07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0.4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/>
            </a:pPr>
            <a:r>
              <a:t>• H2 (Big alone, 41 feat): nova regression 5.70→6.24 confirmed structural — capacity OVERFITS without new features</a:t>
            </a:r>
          </a:p>
          <a:p>
            <a:pPr>
              <a:lnSpc>
                <a:spcPct val="120000"/>
              </a:lnSpc>
              <a:defRPr sz="1200"/>
            </a:pPr>
            <a:r>
              <a:t>• H4 (Small + new): per-channel gnd −1.0 pp, cpl −0.6 pp; tot stable; Mid-bucket C2-C8 cpl R² +0.07 vs B1</a:t>
            </a:r>
          </a:p>
          <a:p>
            <a:pPr>
              <a:lnSpc>
                <a:spcPct val="120000"/>
              </a:lnSpc>
              <a:defRPr sz="1200"/>
            </a:pPr>
            <a:r>
              <a:t>• H5 (Big + new): synergy — capacity exploits new feature dimensions; tv80s tot −0.13 pp; mid-bucket cpl R² +0.10</a:t>
            </a:r>
          </a:p>
          <a:p>
            <a:pPr>
              <a:lnSpc>
                <a:spcPct val="120000"/>
              </a:lnSpc>
              <a:defRPr sz="1200"/>
            </a:pPr>
            <a:r>
              <a:t>• Pattern: capacity helps when feature space expands meaningfully (H2 isolated this)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7. Loss alignment (S4): Tweedie variance_power=1.5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MAPE-aligned objective for power-law cap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Default objective `reg:squarederror` minimizes MSE on log1p target — NOT MAPE-aligned</a:t>
            </a:r>
          </a:p>
          <a:p>
            <a:pPr>
              <a:lnSpc>
                <a:spcPct val="120000"/>
              </a:lnSpc>
              <a:defRPr sz="1400"/>
            </a:pPr>
            <a:r>
              <a:t>• Tweedie (variance_power=1.5): power-law cap distribution + log link — closer to MAPE</a:t>
            </a:r>
          </a:p>
          <a:p>
            <a:pPr>
              <a:lnSpc>
                <a:spcPct val="120000"/>
              </a:lnSpc>
              <a:defRPr sz="1300"/>
            </a:pPr>
            <a:r>
              <a:t>  – XGBoost: `objective='reg:tweedie'`, `tweedie_variance_power=1.5`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S4 Tweedie 5-seed (Small_combined config: depth=8, n_est=500, lr=0.05):</a:t>
            </a:r>
          </a:p>
          <a:p>
            <a:pPr>
              <a:lnSpc>
                <a:spcPct val="120000"/>
              </a:lnSpc>
              <a:defRPr sz="1300"/>
            </a:pPr>
            <a:r>
              <a:t>  – tv80s: 5.087 ± 0.049 / gnd 18.02 / cpl 13.35  (vs Small_combined squarederror 5.28)</a:t>
            </a:r>
          </a:p>
          <a:p>
            <a:pPr>
              <a:lnSpc>
                <a:spcPct val="120000"/>
              </a:lnSpc>
              <a:defRPr sz="1300"/>
            </a:pPr>
            <a:r>
              <a:t>  – nova:  5.417 ± 0.027 / gnd 17.48 / cpl 15.00  (vs squarederror 5.62, std 4× lower)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vp grid (S9): 1.2 / 1.4 / 1.6 / 1.8 — best vp = 1.4 single-seed (5.032), but variance pushes 5-seed mean above 5.087</a:t>
            </a:r>
          </a:p>
          <a:p>
            <a:pPr>
              <a:lnSpc>
                <a:spcPct val="120000"/>
              </a:lnSpc>
              <a:defRPr sz="1400"/>
            </a:pPr>
            <a:r>
              <a:t>• Big + Tweedie (S6): WORSE than Small + Tweedie — capacity hurts even with aligned loss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Quantile loss (P1, α=0.5): 5.380 / 6.704 — worse; |p-y| anchor ≠ MAPE anchor</a:t>
            </a:r>
          </a:p>
          <a:p>
            <a:pPr>
              <a:lnSpc>
                <a:spcPct val="120000"/>
              </a:lnSpc>
              <a:defRPr sz="1400"/>
            </a:pPr>
            <a:r>
              <a:t>• Custom MAPE objective (P3): unstable, immediate early-stop with constant-Hessian sign-gradient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8. Frontier evolution: v12 PINN → pex_v6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Step-by-step accuracy + runtime improvement</a:t>
            </a:r>
          </a:p>
        </p:txBody>
      </p:sp>
      <p:pic>
        <p:nvPicPr>
          <p:cNvPr id="4" name="Picture 3" descr="fig2_5seed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887200" cy="43646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fig2: (a) 5-seed mean tv80s + nova MAPE per method (b) inference wall on tv80s 3,169 nets (log scale)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9. Auto-4pct: 14 strategies × goal of tv80s ≤ 4 %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Exhaustive ladder over loss / blends / per-bucket / recursive — best 4.979 (deployable)</a:t>
            </a:r>
          </a:p>
        </p:txBody>
      </p:sp>
      <p:pic>
        <p:nvPicPr>
          <p:cNvPr id="4" name="Picture 3" descr="fig3_strateg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fig3: 14-strategy comparison. Green = deployable, gray = oracle blends, red = NOT-deployable oracle (P2 / P7)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10. pex_v6 per-bucket: C1 noise floor, C8 = 4.02 %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Aggregate 4.98 % is bottlenecked by C1-C2 (cap &lt; 0.20 fF) denominator noise</a:t>
            </a:r>
          </a:p>
        </p:txBody>
      </p:sp>
      <p:pic>
        <p:nvPicPr>
          <p:cNvPr id="4" name="Picture 3" descr="fig4_per_bucket_pex_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fig4: pex_v6 ensemble per-cap-decile MAPE on tv80s (blue) and nova (orange). Mid-bucket C8 (cap mean 1.46 fF) hits 4.02 % on tv80s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11. pex_v6 deployment: end-to-end SPEF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fresh-clone reproducible — 10 weight files (120 MB total) + 3 stage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• Stage 1 [02_inference.py]: features → 5-seed ensemble predict (mean) → CSV — 0.171 s tv80s</a:t>
            </a:r>
          </a:p>
          <a:p>
            <a:pPr>
              <a:lnSpc>
                <a:spcPct val="120000"/>
              </a:lnSpc>
              <a:defRPr sz="1300"/>
            </a:pPr>
            <a:r>
              <a:t>• Stage 2 [03_write_spef.py]: predictions → IEEE 1481-1999 SPEF — 0.16 s tv80s, 3.0 s nova</a:t>
            </a:r>
          </a:p>
          <a:p>
            <a:pPr>
              <a:lnSpc>
                <a:spcPct val="120000"/>
              </a:lnSpc>
              <a:defRPr sz="1300"/>
            </a:pPr>
            <a:r>
              <a:t>• Stage 3 [04_compare_golden.py]: parse pred + golden SPEF, align by net, compute MAPE / R²</a:t>
            </a:r>
          </a:p>
          <a:p>
            <a:pPr>
              <a:lnSpc>
                <a:spcPct val="120000"/>
              </a:lnSpc>
              <a:defRPr sz="1300"/>
            </a:pPr>
            <a:r>
              <a:t>• Orchestrator [pex_tool.py]: --design X | --all (both designs)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004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n_nets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tot_med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gnd_med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cpl_med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R²(tot)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SPEF write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tv80s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3,169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4.979 %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18.02 %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13.27 %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0.9940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0.171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0.16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nova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92,425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5.279 %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17.40 %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14.96 %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0.9911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0.185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3.01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• SPEF round-trip: max abs err 5e-6 fF (lossless)</a:t>
            </a:r>
          </a:p>
          <a:p>
            <a:pPr>
              <a:lnSpc>
                <a:spcPct val="120000"/>
              </a:lnSpc>
              <a:defRPr sz="1300"/>
            </a:pPr>
            <a:r>
              <a:t>• Ensemble inference at ~5 μs/net throughput (large-design batching amortizes overhead)</a:t>
            </a:r>
          </a:p>
          <a:p>
            <a:pPr>
              <a:lnSpc>
                <a:spcPct val="120000"/>
              </a:lnSpc>
              <a:defRPr sz="1300"/>
            </a:pPr>
            <a:r>
              <a:t>• vs v12 PINN: tv80s tot −0.57 pp at 120× faster wall (0.17 s vs 20.4 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12. Speed-accuracy Pareto: pex_v6 dominant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Faster than B1 XGBoost-comparable, lower MAPE than v12 PINN</a:t>
            </a:r>
          </a:p>
        </p:txBody>
      </p:sp>
      <p:pic>
        <p:nvPicPr>
          <p:cNvPr id="4" name="Picture 3" descr="fig5_speed_accuracy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87878"/>
                </a:solidFill>
              </a:defRPr>
            </a:pPr>
            <a:r>
              <a:t>fig5: log-log Pareto. pex_v6 (★) sits below v12 (■) and beside B1 (●). P2 oracle (✕) shows non-deployable upper bound.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13. Comparison vs prior ML-PEX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Each axis: contribution / performance / novelty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tv80s tot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inference 95k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ParaGraph (DAC '21)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DEF + tech LEF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GNN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~5–10 %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~5–10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graph attention for layout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GNNCap (DAC '22)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DEF + tech LEF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~5–7 %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~3–5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training-time efficiency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v12 PINN (ours, 5-seed)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DEF+LEF+Liberty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cuboid-enc +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5.55 %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physics-informed mesh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B1 XGBoost (5-seed)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DEF+LEF+Liberty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XGB on 41 hand feat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5.30 %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0.05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hand-feature baseline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pex_v6 (this work)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DEF+LEF+Liberty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5-seed Tweedie XGB ens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4.979 %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0.36 s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Calibri"/>
                        </a:rPr>
                        <a:t>top-K aggressor + Tweedie + ensemble</a:t>
                      </a:r>
                    </a:p>
                  </a:txBody>
                  <a:tcPr>
                    <a:solidFill>
                      <a:srgbClr val="DCF0D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/>
            </a:pPr>
            <a:r>
              <a:t>• Performance: pex_v6 beats every prior on tv80s tot at competitive or faster wall</a:t>
            </a:r>
          </a:p>
          <a:p>
            <a:pPr>
              <a:lnSpc>
                <a:spcPct val="120000"/>
              </a:lnSpc>
              <a:defRPr sz="1200"/>
            </a:pPr>
            <a:r>
              <a:t>• Contribution: practical deployable tool with end-to-end SPEF write, not just research model</a:t>
            </a:r>
          </a:p>
          <a:p>
            <a:pPr>
              <a:lnSpc>
                <a:spcPct val="120000"/>
              </a:lnSpc>
              <a:defRPr sz="1200"/>
            </a:pPr>
            <a:r>
              <a:t>• Novelty: top-K aggressor features (vs aggregate-only) + Tweedie loss + within-bucket diagnostic framework</a:t>
            </a:r>
          </a:p>
          <a:p>
            <a:pPr>
              <a:lnSpc>
                <a:spcPct val="120000"/>
              </a:lnSpc>
              <a:defRPr sz="1200"/>
            </a:pPr>
            <a:r>
              <a:t>• Risk: simpler model than ParaGraph/GNNCap → counter with multi-pillar narrative (features + loss + ceiling)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14. Conclusions +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What we learned, what's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• Frontier: pex_v6 5-seed Tweedie XGBoost ensemble — tv80s 4.979 %, nova 5.279 %, 0.17 s inference</a:t>
            </a:r>
          </a:p>
          <a:p>
            <a:pPr>
              <a:lnSpc>
                <a:spcPct val="120000"/>
              </a:lnSpc>
              <a:defRPr sz="1300"/>
            </a:pPr>
            <a:r>
              <a:t>  – Beats v12 PINN by 0.57 pp at 120× faster end-to-end wall</a:t>
            </a:r>
          </a:p>
          <a:p>
            <a:pPr>
              <a:lnSpc>
                <a:spcPct val="120000"/>
              </a:lnSpc>
              <a:defRPr sz="1300"/>
            </a:pPr>
            <a:r>
              <a:t>  – End-to-end SPEF pipeline reproducible from fresh clone (120 MB weights)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Three contribution pillars:</a:t>
            </a:r>
          </a:p>
          <a:p>
            <a:pPr>
              <a:lnSpc>
                <a:spcPct val="120000"/>
              </a:lnSpc>
              <a:defRPr sz="1300"/>
            </a:pPr>
            <a:r>
              <a:t>  – (1) Top-K aggressor features — per-aggressor identity that prior aggregate-stats methods miss</a:t>
            </a:r>
          </a:p>
          <a:p>
            <a:pPr>
              <a:lnSpc>
                <a:spcPct val="120000"/>
              </a:lnSpc>
              <a:defRPr sz="1300"/>
            </a:pPr>
            <a:r>
              <a:t>  – (2) Tweedie loss alignment — 0.1-0.3 pp MAPE-aligned gain</a:t>
            </a:r>
          </a:p>
          <a:p>
            <a:pPr>
              <a:lnSpc>
                <a:spcPct val="120000"/>
              </a:lnSpc>
              <a:defRPr sz="1300"/>
            </a:pPr>
            <a:r>
              <a:t>  – (3) Within-bucket R² + 4-way oracle bound — methodological diagnostic framework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4 % goal NOT closed by 14 strategies under 67-D scalar feature + tree formulation</a:t>
            </a:r>
          </a:p>
          <a:p>
            <a:pPr>
              <a:lnSpc>
                <a:spcPct val="120000"/>
              </a:lnSpc>
              <a:defRPr sz="1300"/>
            </a:pPr>
            <a:r>
              <a:t>  – Per-bucket C8 already at 4.02 % locally — aggregate bottleneck is C1 (cap &lt; 0.15 fF), but…</a:t>
            </a:r>
          </a:p>
          <a:p>
            <a:pPr>
              <a:lnSpc>
                <a:spcPct val="120000"/>
              </a:lnSpc>
              <a:defRPr sz="1300"/>
            </a:pPr>
            <a:r>
              <a:t>  – …StarRC golden uses the SAME inputs we do (DEF + LEF + Liberty + layer-stack)</a:t>
            </a:r>
          </a:p>
          <a:p>
            <a:pPr>
              <a:lnSpc>
                <a:spcPct val="120000"/>
              </a:lnSpc>
              <a:defRPr sz="1300"/>
            </a:pPr>
            <a:r>
              <a:t>  – …→ The 1.0 pp gap is REPRESENTATION-side, not input-side</a:t>
            </a:r>
          </a:p>
          <a:p>
            <a:pPr>
              <a:lnSpc>
                <a:spcPct val="120000"/>
              </a:lnSpc>
              <a:defRPr sz="1400"/>
            </a:pPr>
            <a:r>
              <a:t>• </a:t>
            </a:r>
          </a:p>
          <a:p>
            <a:pPr>
              <a:lnSpc>
                <a:spcPct val="120000"/>
              </a:lnSpc>
              <a:defRPr sz="1400"/>
            </a:pPr>
            <a:r>
              <a:t>• Path to 4 % (model-side; inputs unchanged):</a:t>
            </a:r>
          </a:p>
          <a:p>
            <a:pPr>
              <a:lnSpc>
                <a:spcPct val="120000"/>
              </a:lnSpc>
              <a:defRPr sz="1300"/>
            </a:pPr>
            <a:r>
              <a:t>  – Per-pair LEARNED coupling head (vs failed Strike #2 which used uniform analytic)</a:t>
            </a:r>
          </a:p>
          <a:p>
            <a:pPr>
              <a:lnSpc>
                <a:spcPct val="120000"/>
              </a:lnSpc>
              <a:defRPr sz="1300"/>
            </a:pPr>
            <a:r>
              <a:t>  – Pattern-bank memory / k-NN inference (mimics StarRC NXTGRD lookup)</a:t>
            </a:r>
          </a:p>
          <a:p>
            <a:pPr>
              <a:lnSpc>
                <a:spcPct val="120000"/>
              </a:lnSpc>
              <a:defRPr sz="1300"/>
            </a:pPr>
            <a:r>
              <a:t>  – Stack v12 encoder representation as features for XGBoost residual</a:t>
            </a:r>
          </a:p>
          <a:p>
            <a:pPr>
              <a:lnSpc>
                <a:spcPct val="120000"/>
              </a:lnSpc>
              <a:defRPr sz="1300"/>
            </a:pPr>
            <a:r>
              <a:t>  – Different output target (block-level cap, length-weighted MAPE)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